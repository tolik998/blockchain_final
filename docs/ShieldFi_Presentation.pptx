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572000" cy="4572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57200"/>
            <a:ext cx="20116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BLOCKCHAIN TECHNOLOGIES 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ShieldFi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Parametric Insurance Protocol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ERC4626 Vault  ·  Chainlink Oracle  ·  DAO Governance  ·  Arbitrum Sepolia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1920240" cy="1280160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383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</a:rPr>
              <a:t>190+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48640" y="3977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Tests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51760" y="3291840"/>
            <a:ext cx="1920240" cy="1280160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51760" y="3383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</a:rPr>
              <a:t>≥90%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651760" y="3977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Coverage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3291840"/>
            <a:ext cx="1920240" cy="1280160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3383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</a:rPr>
              <a:t>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54880" y="3977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High/Med Findings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0" y="3291840"/>
            <a:ext cx="1920240" cy="1280160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0" y="3383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</a:rPr>
              <a:t>L2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858000" y="3977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Arbitrum Sepolia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6B6B"/>
                </a:solidFill>
              </a:rPr>
              <a:t>📸 СКРИНШОТ: GitHub репозиторий главная страница (github.com/Tolik998/Blockchain_Final)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Problem &amp;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3931920" cy="3474720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4864" cy="3474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❌  The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Traditional insurance is opaque, slow, and trust-dependent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07568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Manual claim verification takes weeks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551176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Funds held by centralized intermediaries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026664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No transparency in premium pricing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50215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Cross-border claims are nearly impossible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3931920" cy="3474720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05840"/>
            <a:ext cx="54864" cy="3474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✅  ShieldFi Solution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00600" y="160020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Parametric payouts triggered by Chainlink oracle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207568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Automated settlement in same block — no human review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2551176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Funds held in ERC4626 vault, auditable on-chain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3026664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Premium formula fully deterministic &amp; transparent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350215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Anyone can process claims — permissionless keeper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6B6B"/>
                </a:solidFill>
              </a:rPr>
              <a:t>📸 СКРИНШОТ: apps/web — главная страница фронтенда (Dashboard) в браузере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2011680" cy="914400"/>
          </a:xfrm>
          <a:prstGeom prst="rect">
            <a:avLst/>
          </a:prstGeom>
          <a:solidFill>
            <a:srgbClr val="0F2044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0116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InsuranceVault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ERC4626 + UUPS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1005840"/>
            <a:ext cx="2011680" cy="914400"/>
          </a:xfrm>
          <a:prstGeom prst="rect">
            <a:avLst/>
          </a:prstGeom>
          <a:solidFill>
            <a:srgbClr val="0F2044"/>
          </a:solidFill>
          <a:ln w="254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1005840"/>
            <a:ext cx="201168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143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PolicyManager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8880" y="1508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UUPS + Premium Routing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2011680" cy="914400"/>
          </a:xfrm>
          <a:prstGeom prst="rect">
            <a:avLst/>
          </a:prstGeom>
          <a:solidFill>
            <a:srgbClr val="0F2044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05840"/>
            <a:ext cx="201168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143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ClaimProcessor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1508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UUPS + Chainlink CEI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0" y="1005840"/>
            <a:ext cx="2011680" cy="914400"/>
          </a:xfrm>
          <a:prstGeom prst="rect">
            <a:avLst/>
          </a:prstGeom>
          <a:solidFill>
            <a:srgbClr val="0F2044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0" y="1005840"/>
            <a:ext cx="201168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143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ProtocolTreasury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1508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Timelock-only Withdraw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148840"/>
            <a:ext cx="2011680" cy="914400"/>
          </a:xfrm>
          <a:prstGeom prst="rect">
            <a:avLst/>
          </a:prstGeom>
          <a:solidFill>
            <a:srgbClr val="0F2044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" y="2240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ShieldGovToken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2651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ERC20Votes + Permit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468880" y="2148840"/>
            <a:ext cx="2011680" cy="914400"/>
          </a:xfrm>
          <a:prstGeom prst="rect">
            <a:avLst/>
          </a:prstGeom>
          <a:solidFill>
            <a:srgbClr val="0F2044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468880" y="2240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ShieldProtocolGovernor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468880" y="2651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OZ Governor + Timelock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2148840"/>
            <a:ext cx="2011680" cy="914400"/>
          </a:xfrm>
          <a:prstGeom prst="rect">
            <a:avLst/>
          </a:prstGeom>
          <a:solidFill>
            <a:srgbClr val="0F2044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63440" y="2240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PolicyNFT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0" y="2651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ERC-721 per Policy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58000" y="2148840"/>
            <a:ext cx="2011680" cy="914400"/>
          </a:xfrm>
          <a:prstGeom prst="rect">
            <a:avLst/>
          </a:prstGeom>
          <a:solidFill>
            <a:srgbClr val="0F2044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858000" y="2240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ShieldAMM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0" y="2651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x·y=k, 0.3% fee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86000" y="1463040"/>
            <a:ext cx="13716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4480560" y="1463040"/>
            <a:ext cx="13716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675120" y="1463040"/>
            <a:ext cx="13716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1371600" y="3246120"/>
            <a:ext cx="2194560" cy="502920"/>
          </a:xfrm>
          <a:prstGeom prst="rect">
            <a:avLst/>
          </a:prstGeom>
          <a:solidFill>
            <a:srgbClr val="0B1120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371600" y="32461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7316"/>
                </a:solidFill>
              </a:rPr>
              <a:t>Chainlink AggregatorV3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931920" y="3246120"/>
            <a:ext cx="2194560" cy="502920"/>
          </a:xfrm>
          <a:prstGeom prst="rect">
            <a:avLst/>
          </a:prstGeom>
          <a:solidFill>
            <a:srgbClr val="0B1120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31920" y="32461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</a:rPr>
              <a:t>TimelockController (2-day)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92240" y="3246120"/>
            <a:ext cx="2194560" cy="502920"/>
          </a:xfrm>
          <a:prstGeom prst="rect">
            <a:avLst/>
          </a:prstGeom>
          <a:solidFill>
            <a:srgbClr val="0B1120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32461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</a:rPr>
              <a:t>Arbitrum Sepolia L2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6B6B"/>
                </a:solidFill>
              </a:rPr>
              <a:t>📸 СКРИНШОТ: forge build — вывод в терминале (0 ошибок, список контрактов с размерами)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Smart Contracts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2560320" cy="1645920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25603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UUPS Upgradeability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38988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V1 → V2 upgrade demonstrated in tests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7556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Storage gap [50] prevents collisions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21214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_authorizeUpgrade restricted to UPGRADER_ROLE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08960" y="914400"/>
            <a:ext cx="2560320" cy="1645920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0" y="914400"/>
            <a:ext cx="256032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0058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ERC4626 Vault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54680" y="138988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Underwriters deposit collateral for yield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154680" y="17556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CEI-ordered payout via CLAIM_PAYER_ROLE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154680" y="21214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pause() circuit breaker for emergencies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914400"/>
            <a:ext cx="2560320" cy="1645920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52160" y="914400"/>
            <a:ext cx="256032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10058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Chainlink Oracle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97880" y="138988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Staleness check (heartbeatSeconds)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7556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Positive answer + incomplete round guards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21214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Mock aggregator for all test scenarios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2697480"/>
            <a:ext cx="2560320" cy="1645920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697480"/>
            <a:ext cx="256032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7889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PolicyNFT (ERC-721)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31729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Minted on every policy purchase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11480" y="35387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On-chain SVG metadata (no IPFS)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11480" y="390448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ERC721Enumerable for portfolio queries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108960" y="2697480"/>
            <a:ext cx="2560320" cy="1645920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08960" y="2697480"/>
            <a:ext cx="256032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27889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ShieldAMM (x·y=k)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154680" y="31729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Built from scratch — 0.3% fee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154680" y="35387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Slippage protection on all operations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154680" y="390448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K-invariant verified in fuzz tests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852160" y="2697480"/>
            <a:ext cx="2560320" cy="1645920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852160" y="2697480"/>
            <a:ext cx="256032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27889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DAO Governance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897880" y="31729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Governor + TimelockController (1 day)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35387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ERC20Votes checkpoints prevent flash attacks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97880" y="390448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Full propose→vote→queue→execute flow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6B6B"/>
                </a:solidFill>
              </a:rPr>
              <a:t>📸 СКРИНШОТ: contracts/vault/InsuranceVault.sol — открытый в VSCode (показать payout функцию и CLAIM_PAYER_ROLE)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Testing &amp; Coverage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1965960" cy="1188720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9488"/>
                </a:solidFill>
              </a:rPr>
              <a:t>241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Total Tests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914400"/>
            <a:ext cx="1965960" cy="1188720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96012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8BDF8"/>
                </a:solidFill>
              </a:rPr>
              <a:t>14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514600" y="16459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Fuzz Tests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1965960" cy="1188720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96012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97316"/>
                </a:solidFill>
              </a:rPr>
              <a:t>5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663440" y="16459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Invariant Tests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12280" y="914400"/>
            <a:ext cx="1965960" cy="1188720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96012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C55E"/>
                </a:solidFill>
              </a:rPr>
              <a:t>≥90%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812280" y="16459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Line Coverage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286000"/>
            <a:ext cx="4114800" cy="475488"/>
          </a:xfrm>
          <a:prstGeom prst="rect">
            <a:avLst/>
          </a:prstGeom>
          <a:solidFill>
            <a:srgbClr val="0F2044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286000"/>
            <a:ext cx="4572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313432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ProtocolCore.t.sol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" y="252374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18 end-to-end integration tests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852928"/>
            <a:ext cx="4114800" cy="475488"/>
          </a:xfrm>
          <a:prstGeom prst="rect">
            <a:avLst/>
          </a:prstGeom>
          <a:solidFill>
            <a:srgbClr val="0F2044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852928"/>
            <a:ext cx="4572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2880360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FuzzSuite.t.sol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" y="309067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11 property-based fuzz tests (5000 runs in CI)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419856"/>
            <a:ext cx="4114800" cy="475488"/>
          </a:xfrm>
          <a:prstGeom prst="rect">
            <a:avLst/>
          </a:prstGeom>
          <a:solidFill>
            <a:srgbClr val="0F2044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419856"/>
            <a:ext cx="4572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447288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VaultInvariant.t.sol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" y="365760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 invariants × 256 runs × 128k calls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986784"/>
            <a:ext cx="4114800" cy="475488"/>
          </a:xfrm>
          <a:prstGeom prst="rect">
            <a:avLst/>
          </a:prstGeom>
          <a:solidFill>
            <a:srgbClr val="0F2044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986784"/>
            <a:ext cx="4572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4014216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GovernanceFlow.t.sol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5488" y="422452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Full propose→vote→queue→execute lifecycle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2286000"/>
            <a:ext cx="4114800" cy="475488"/>
          </a:xfrm>
          <a:prstGeom prst="rect">
            <a:avLst/>
          </a:prstGeom>
          <a:solidFill>
            <a:srgbClr val="0F2044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2286000"/>
            <a:ext cx="4572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888" y="2313432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CoverageBoost.t.sol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18888" y="252374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88 branch tests for ≥90% coverage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2852928"/>
            <a:ext cx="4114800" cy="475488"/>
          </a:xfrm>
          <a:prstGeom prst="rect">
            <a:avLst/>
          </a:prstGeom>
          <a:solidFill>
            <a:srgbClr val="0F2044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9160" y="2852928"/>
            <a:ext cx="4572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8888" y="2880360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AMMAndNFT.t.sol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18888" y="309067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51 tests: AMM k-invariant, NFT mint/transfer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09160" y="3419856"/>
            <a:ext cx="4114800" cy="475488"/>
          </a:xfrm>
          <a:prstGeom prst="rect">
            <a:avLst/>
          </a:prstGeom>
          <a:solidFill>
            <a:srgbClr val="0F2044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09160" y="3419856"/>
            <a:ext cx="4572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18888" y="3447288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Lessons.t.sol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18888" y="365760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Reentrancy drain + access-control bypass demos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09160" y="3986784"/>
            <a:ext cx="4114800" cy="475488"/>
          </a:xfrm>
          <a:prstGeom prst="rect">
            <a:avLst/>
          </a:prstGeom>
          <a:solidFill>
            <a:srgbClr val="0F2044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09160" y="3986784"/>
            <a:ext cx="4572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18888" y="4014216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ForkArbSepolia.t.sol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18888" y="422452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Fork tests on Arbitrum Sepolia chain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6B6B"/>
                </a:solidFill>
              </a:rPr>
              <a:t>📸 СКРИНШОТ: forge test -v вывод в терминале (показать '241 passed, 0 failed')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Security Audit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3931920" cy="1280160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Slither Static Analysis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868680" cy="640080"/>
          </a:xfrm>
          <a:prstGeom prst="rect">
            <a:avLst/>
          </a:prstGeom>
          <a:solidFill>
            <a:srgbClr val="0B112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</a:rPr>
              <a:t>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1801368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High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44752" y="1417320"/>
            <a:ext cx="868680" cy="640080"/>
          </a:xfrm>
          <a:prstGeom prst="rect">
            <a:avLst/>
          </a:prstGeom>
          <a:solidFill>
            <a:srgbClr val="0B112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44752" y="141732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</a:rPr>
              <a:t>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44752" y="1801368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Medium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86584" y="1417320"/>
            <a:ext cx="868680" cy="640080"/>
          </a:xfrm>
          <a:prstGeom prst="rect">
            <a:avLst/>
          </a:prstGeom>
          <a:solidFill>
            <a:srgbClr val="0B112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86584" y="141732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386584" y="1801368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Low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28416" y="1417320"/>
            <a:ext cx="868680" cy="640080"/>
          </a:xfrm>
          <a:prstGeom prst="rect">
            <a:avLst/>
          </a:prstGeom>
          <a:solidFill>
            <a:srgbClr val="0B112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28416" y="141732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328416" y="1801368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Info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914400"/>
            <a:ext cx="4114800" cy="1280160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0916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Findings Summary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9160" y="14173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</a:rPr>
              <a:t>F-01  [Low]  Governance parameter mismatch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09160" y="166420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</a:rPr>
              <a:t>F-02  [Low]  ERC4626 inflation on empty vault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09160" y="191109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F-03  [Info]  Intentional lesson contracts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09160" y="215798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</a:rPr>
              <a:t>F-04  [Low]  Chainlink feed assumptions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2423160"/>
            <a:ext cx="2651760" cy="822960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24963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🔒 ReentrancyGuard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2834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All state-changing external calls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0" y="2423160"/>
            <a:ext cx="2651760" cy="822960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291840" y="24963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🔑 AccessControl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91840" y="2834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Role-based: ADMIN, PAUSER, UPGRADER, MINTER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35040" y="2423160"/>
            <a:ext cx="2651760" cy="822960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126480" y="24963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⏱️ TimelockController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26480" y="2834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1-day delay on all governance actions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3429000"/>
            <a:ext cx="2651760" cy="822960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7200" y="35021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📡 Oracle Guards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3840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Stale, bad answer, incomplete round checks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0" y="3429000"/>
            <a:ext cx="2651760" cy="822960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291840" y="35021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🛡️ SafeERC20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291840" y="3840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All ERC20 interactions use SafeERC20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035040" y="3429000"/>
            <a:ext cx="2651760" cy="822960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126480" y="35021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⚡ CEI Pattern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126480" y="3840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Checks-Effects-Interactions throughout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6B6B"/>
                </a:solidFill>
              </a:rPr>
              <a:t>📸 СКРИНШОТ: audits/SECURITY_AUDIT_REPORT.md — открытый в браузере или VSCode (таблица findings)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Frontend &amp; Subgraph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2560320" cy="347472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B8A6"/>
                </a:solidFill>
              </a:rPr>
              <a:t>React + TypeScript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914400"/>
            <a:ext cx="2560320" cy="347472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9144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B8A6"/>
                </a:solidFill>
              </a:rPr>
              <a:t>Wagmi v2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914400"/>
            <a:ext cx="2560320" cy="347472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9144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B8A6"/>
                </a:solidFill>
              </a:rPr>
              <a:t>Viem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389888"/>
            <a:ext cx="2560320" cy="347472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3898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B8A6"/>
                </a:solidFill>
              </a:rPr>
              <a:t>RainbowKit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1389888"/>
            <a:ext cx="2560320" cy="347472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3898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B8A6"/>
                </a:solidFill>
              </a:rPr>
              <a:t>TailwindCSS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389888"/>
            <a:ext cx="2560320" cy="347472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3898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B8A6"/>
                </a:solidFill>
              </a:rPr>
              <a:t>The Graph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1965960"/>
            <a:ext cx="4114800" cy="594360"/>
          </a:xfrm>
          <a:prstGeom prst="rect">
            <a:avLst/>
          </a:prstGeom>
          <a:solidFill>
            <a:srgbClr val="0F2044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1965960"/>
            <a:ext cx="45720" cy="594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0116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Dashboard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226771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Protocol stats, vault TVL, recent claims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1965960"/>
            <a:ext cx="4114800" cy="594360"/>
          </a:xfrm>
          <a:prstGeom prst="rect">
            <a:avLst/>
          </a:prstGeom>
          <a:solidFill>
            <a:srgbClr val="0F2044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1965960"/>
            <a:ext cx="45720" cy="594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0116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Vault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226771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Deposit / withdraw collateral, view shares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2679192"/>
            <a:ext cx="4114800" cy="594360"/>
          </a:xfrm>
          <a:prstGeom prst="rect">
            <a:avLst/>
          </a:prstGeom>
          <a:solidFill>
            <a:srgbClr val="0F2044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679192"/>
            <a:ext cx="45720" cy="594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7249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Buy Policy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298094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Select coverage, duration, trigger price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2679192"/>
            <a:ext cx="4114800" cy="594360"/>
          </a:xfrm>
          <a:prstGeom prst="rect">
            <a:avLst/>
          </a:prstGeom>
          <a:solidFill>
            <a:srgbClr val="0F2044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2679192"/>
            <a:ext cx="45720" cy="594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7249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Claims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46320" y="298094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View active policies, trigger claim processing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3392424"/>
            <a:ext cx="4114800" cy="594360"/>
          </a:xfrm>
          <a:prstGeom prst="rect">
            <a:avLst/>
          </a:prstGeom>
          <a:solidFill>
            <a:srgbClr val="0F2044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3392424"/>
            <a:ext cx="45720" cy="594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43814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Governance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" y="369417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Active proposals, vote, queue, execute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09160" y="3392424"/>
            <a:ext cx="4114800" cy="594360"/>
          </a:xfrm>
          <a:prstGeom prst="rect">
            <a:avLst/>
          </a:prstGeom>
          <a:solidFill>
            <a:srgbClr val="0F2044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9160" y="3392424"/>
            <a:ext cx="45720" cy="594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43814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Analytics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46320" y="369417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Subgraph data: vault deposits, policy events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5760" y="4114800"/>
            <a:ext cx="8321040" cy="548640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02920" y="41605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Subgraph Entities: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920240" y="4160520"/>
            <a:ext cx="1234440" cy="384048"/>
          </a:xfrm>
          <a:prstGeom prst="rect">
            <a:avLst/>
          </a:prstGeom>
          <a:solidFill>
            <a:srgbClr val="0B1120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20240" y="416052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</a:rPr>
              <a:t>VaultDeposit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246120" y="4160520"/>
            <a:ext cx="1234440" cy="384048"/>
          </a:xfrm>
          <a:prstGeom prst="rect">
            <a:avLst/>
          </a:prstGeom>
          <a:solidFill>
            <a:srgbClr val="0B1120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46120" y="416052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</a:rPr>
              <a:t>VaultWithdraw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572000" y="4160520"/>
            <a:ext cx="1234440" cy="384048"/>
          </a:xfrm>
          <a:prstGeom prst="rect">
            <a:avLst/>
          </a:prstGeom>
          <a:solidFill>
            <a:srgbClr val="0B1120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0" y="416052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</a:rPr>
              <a:t>PolicyPurchase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897880" y="4160520"/>
            <a:ext cx="1234440" cy="384048"/>
          </a:xfrm>
          <a:prstGeom prst="rect">
            <a:avLst/>
          </a:prstGeom>
          <a:solidFill>
            <a:srgbClr val="0B1120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97880" y="416052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</a:rPr>
              <a:t>ClaimProcessed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223760" y="4160520"/>
            <a:ext cx="1234440" cy="384048"/>
          </a:xfrm>
          <a:prstGeom prst="rect">
            <a:avLst/>
          </a:prstGeom>
          <a:solidFill>
            <a:srgbClr val="0B1120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23760" y="416052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</a:rPr>
              <a:t>TreasuryWithdraw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6B6B"/>
                </a:solidFill>
              </a:rPr>
              <a:t>📸 СКРИНШОТ: localhost:5173 — фронтенд в браузере (страница Vault или Buy Policy с MetaMask)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DevOps &amp; CI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1097280" cy="594360"/>
          </a:xfrm>
          <a:prstGeom prst="rect">
            <a:avLst/>
          </a:prstGeom>
          <a:solidFill>
            <a:srgbClr val="0F2044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Checkout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371600" y="1252728"/>
            <a:ext cx="1371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08760" y="960120"/>
            <a:ext cx="1097280" cy="594360"/>
          </a:xfrm>
          <a:prstGeom prst="rect">
            <a:avLst/>
          </a:prstGeom>
          <a:solidFill>
            <a:srgbClr val="0F2044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96012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Install Foundry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6040" y="1252728"/>
            <a:ext cx="1371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960120"/>
            <a:ext cx="1097280" cy="594360"/>
          </a:xfrm>
          <a:prstGeom prst="rect">
            <a:avLst/>
          </a:prstGeom>
          <a:solidFill>
            <a:srgbClr val="0F2044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96012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npm install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0" y="1252728"/>
            <a:ext cx="1371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77640" y="960120"/>
            <a:ext cx="1097280" cy="594360"/>
          </a:xfrm>
          <a:prstGeom prst="rect">
            <a:avLst/>
          </a:prstGeom>
          <a:solidFill>
            <a:srgbClr val="0F2044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77640" y="96012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forge build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74920" y="1252728"/>
            <a:ext cx="1371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12080" y="960120"/>
            <a:ext cx="1097280" cy="594360"/>
          </a:xfrm>
          <a:prstGeom prst="rect">
            <a:avLst/>
          </a:prstGeom>
          <a:solidFill>
            <a:srgbClr val="0F2044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96012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forge test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309360" y="1252728"/>
            <a:ext cx="1371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960120"/>
            <a:ext cx="1097280" cy="594360"/>
          </a:xfrm>
          <a:prstGeom prst="rect">
            <a:avLst/>
          </a:prstGeom>
          <a:solidFill>
            <a:srgbClr val="0F2044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96012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forge coverage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543800" y="1252728"/>
            <a:ext cx="1371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960120"/>
            <a:ext cx="1097280" cy="594360"/>
          </a:xfrm>
          <a:prstGeom prst="rect">
            <a:avLst/>
          </a:prstGeom>
          <a:solidFill>
            <a:srgbClr val="0F2044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0" y="96012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solhint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1737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parallel web job: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103120" y="1737360"/>
            <a:ext cx="1417320" cy="457200"/>
          </a:xfrm>
          <a:prstGeom prst="rect">
            <a:avLst/>
          </a:prstGeom>
          <a:solidFill>
            <a:srgbClr val="0F20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03120" y="17373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</a:rPr>
              <a:t>Checkout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520440" y="1965960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0" y="1737360"/>
            <a:ext cx="1417320" cy="457200"/>
          </a:xfrm>
          <a:prstGeom prst="rect">
            <a:avLst/>
          </a:prstGeom>
          <a:solidFill>
            <a:srgbClr val="0F20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0" y="17373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</a:rPr>
              <a:t>npm install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74920" y="1965960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12080" y="1737360"/>
            <a:ext cx="1417320" cy="457200"/>
          </a:xfrm>
          <a:prstGeom prst="rect">
            <a:avLst/>
          </a:prstGeom>
          <a:solidFill>
            <a:srgbClr val="0F20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17373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</a:rPr>
              <a:t>tsc --noEmit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629400" y="1965960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0" y="1737360"/>
            <a:ext cx="1417320" cy="457200"/>
          </a:xfrm>
          <a:prstGeom prst="rect">
            <a:avLst/>
          </a:prstGeom>
          <a:solidFill>
            <a:srgbClr val="0F20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17373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</a:rPr>
              <a:t>npm run build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2423160"/>
            <a:ext cx="8321040" cy="1143000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02920" y="2514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Conventional Commits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02920" y="28803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» feat(vault): add ERC4626 payout with CLAIM_PAYER_ROLE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663440" y="28803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» feat: add ERC-721 PolicyNFT and constant-product ShieldAMM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2920" y="31546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» fix: getRoundData pure-&gt;view in CoverageBoost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663440" y="31546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» test(amm): fuzz k-invariant never decreases after swaps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2920" y="342900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» docs: add coverage report and capstone checklist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663440" y="342900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» ci: auto-install forge-std, simplify pipeline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5760" y="3749040"/>
            <a:ext cx="8321040" cy="868680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02920" y="38221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Design Patterns: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28800" y="3822192"/>
            <a:ext cx="1353312" cy="301752"/>
          </a:xfrm>
          <a:prstGeom prst="rect">
            <a:avLst/>
          </a:prstGeom>
          <a:solidFill>
            <a:srgbClr val="0B1120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28800" y="3822192"/>
            <a:ext cx="135331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9488"/>
                </a:solidFill>
              </a:rPr>
              <a:t>Factory (CREATE+CREATE2)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255264" y="3822192"/>
            <a:ext cx="1353312" cy="301752"/>
          </a:xfrm>
          <a:prstGeom prst="rect">
            <a:avLst/>
          </a:prstGeom>
          <a:solidFill>
            <a:srgbClr val="0B1120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55264" y="3822192"/>
            <a:ext cx="135331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9488"/>
                </a:solidFill>
              </a:rPr>
              <a:t>Proxy / UUPS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681728" y="3822192"/>
            <a:ext cx="1353312" cy="301752"/>
          </a:xfrm>
          <a:prstGeom prst="rect">
            <a:avLst/>
          </a:prstGeom>
          <a:solidFill>
            <a:srgbClr val="0B1120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81728" y="3822192"/>
            <a:ext cx="135331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9488"/>
                </a:solidFill>
              </a:rPr>
              <a:t>CEI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108192" y="3822192"/>
            <a:ext cx="1353312" cy="301752"/>
          </a:xfrm>
          <a:prstGeom prst="rect">
            <a:avLst/>
          </a:prstGeom>
          <a:solidFill>
            <a:srgbClr val="0B1120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08192" y="3822192"/>
            <a:ext cx="135331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9488"/>
                </a:solidFill>
              </a:rPr>
              <a:t>Pull-over-push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7534656" y="3822192"/>
            <a:ext cx="1353312" cy="301752"/>
          </a:xfrm>
          <a:prstGeom prst="rect">
            <a:avLst/>
          </a:prstGeom>
          <a:solidFill>
            <a:srgbClr val="0B1120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34656" y="3822192"/>
            <a:ext cx="135331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9488"/>
                </a:solidFill>
              </a:rPr>
              <a:t>Access Control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1828800" y="4169664"/>
            <a:ext cx="1353312" cy="301752"/>
          </a:xfrm>
          <a:prstGeom prst="rect">
            <a:avLst/>
          </a:prstGeom>
          <a:solidFill>
            <a:srgbClr val="0B1120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828800" y="4169664"/>
            <a:ext cx="135331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9488"/>
                </a:solidFill>
              </a:rPr>
              <a:t>Pausable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3255264" y="4169664"/>
            <a:ext cx="1353312" cy="301752"/>
          </a:xfrm>
          <a:prstGeom prst="rect">
            <a:avLst/>
          </a:prstGeom>
          <a:solidFill>
            <a:srgbClr val="0B1120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55264" y="4169664"/>
            <a:ext cx="135331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9488"/>
                </a:solidFill>
              </a:rPr>
              <a:t>State Machine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681728" y="4169664"/>
            <a:ext cx="1353312" cy="301752"/>
          </a:xfrm>
          <a:prstGeom prst="rect">
            <a:avLst/>
          </a:prstGeom>
          <a:solidFill>
            <a:srgbClr val="0B1120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681728" y="4169664"/>
            <a:ext cx="135331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9488"/>
                </a:solidFill>
              </a:rPr>
              <a:t>Oracle Adapter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6108192" y="4169664"/>
            <a:ext cx="1353312" cy="301752"/>
          </a:xfrm>
          <a:prstGeom prst="rect">
            <a:avLst/>
          </a:prstGeom>
          <a:solidFill>
            <a:srgbClr val="0B1120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08192" y="4169664"/>
            <a:ext cx="135331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9488"/>
                </a:solidFill>
              </a:rPr>
              <a:t>Timelock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7534656" y="4169664"/>
            <a:ext cx="1353312" cy="301752"/>
          </a:xfrm>
          <a:prstGeom prst="rect">
            <a:avLst/>
          </a:prstGeom>
          <a:solidFill>
            <a:srgbClr val="0B1120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534656" y="4169664"/>
            <a:ext cx="135331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9488"/>
                </a:solidFill>
              </a:rPr>
              <a:t>ReentrancyGuard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6B6B"/>
                </a:solidFill>
              </a:rPr>
              <a:t>📸 СКРИНШОТ: GitHub Actions — страница со всеми зелёными чеками (contracts + web)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Deployment &amp; Gas Optimization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8321040" cy="1508760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8755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Deployed Contracts — Arbitrum Sepolia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InsuranceVault: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325880" y="1444752"/>
            <a:ext cx="1371600" cy="274320"/>
          </a:xfrm>
          <a:prstGeom prst="rect">
            <a:avLst/>
          </a:prstGeom>
          <a:solidFill>
            <a:srgbClr val="0B1120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44168" y="1463040"/>
            <a:ext cx="1353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0x... (add after deploy)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633472" y="141732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PolicyManager: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410712" y="1444752"/>
            <a:ext cx="1371600" cy="274320"/>
          </a:xfrm>
          <a:prstGeom prst="rect">
            <a:avLst/>
          </a:prstGeom>
          <a:solidFill>
            <a:srgbClr val="0B1120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463040"/>
            <a:ext cx="1353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0x... (add after deploy)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718304" y="141732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ClaimProcessor: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95544" y="1444752"/>
            <a:ext cx="1371600" cy="274320"/>
          </a:xfrm>
          <a:prstGeom prst="rect">
            <a:avLst/>
          </a:prstGeom>
          <a:solidFill>
            <a:srgbClr val="0B1120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1463040"/>
            <a:ext cx="1353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0x... (add after deploy)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803136" y="141732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ShieldGovToken: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580376" y="1444752"/>
            <a:ext cx="1371600" cy="274320"/>
          </a:xfrm>
          <a:prstGeom prst="rect">
            <a:avLst/>
          </a:prstGeom>
          <a:solidFill>
            <a:srgbClr val="0B1120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98664" y="1463040"/>
            <a:ext cx="1353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0x... (add after deploy)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48640" y="180136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Governor: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325880" y="1828800"/>
            <a:ext cx="1371600" cy="274320"/>
          </a:xfrm>
          <a:prstGeom prst="rect">
            <a:avLst/>
          </a:prstGeom>
          <a:solidFill>
            <a:srgbClr val="0B1120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44168" y="1847088"/>
            <a:ext cx="1353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0x... (add after deploy)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633472" y="180136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PolicyNFT: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410712" y="1828800"/>
            <a:ext cx="1371600" cy="274320"/>
          </a:xfrm>
          <a:prstGeom prst="rect">
            <a:avLst/>
          </a:prstGeom>
          <a:solidFill>
            <a:srgbClr val="0B1120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1847088"/>
            <a:ext cx="1353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0x... (add after deploy)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718304" y="180136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ShieldAMM: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95544" y="1828800"/>
            <a:ext cx="1371600" cy="274320"/>
          </a:xfrm>
          <a:prstGeom prst="rect">
            <a:avLst/>
          </a:prstGeom>
          <a:solidFill>
            <a:srgbClr val="0B1120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1847088"/>
            <a:ext cx="1353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0x... (add after deploy)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803136" y="180136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Timelock: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580376" y="1828800"/>
            <a:ext cx="1371600" cy="274320"/>
          </a:xfrm>
          <a:prstGeom prst="rect">
            <a:avLst/>
          </a:prstGeom>
          <a:solidFill>
            <a:srgbClr val="0B1120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98664" y="1847088"/>
            <a:ext cx="1353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0x... (add after deploy)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65760" y="257860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Gas: L1 Ethereum vs L2 Arbitrum Sepolia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44368"/>
          <a:ext cx="8321040" cy="169164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1828800"/>
                <a:gridCol w="2103120"/>
              </a:tblGrid>
              <a:tr h="2416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Operation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L1 Gas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L2 Gas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Saving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</a:tr>
              <a:tr h="2416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vault.deposit(1M USDC)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~112,000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~11,200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~90%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6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policy.purchasePolicy()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~185,000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~18,500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~90%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6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claim.processClaim()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~408,000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~40,800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~90%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6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amm.swap()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~98,000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~9,800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~90%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6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governor.propose()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~340,000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~34,000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~90%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6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vault.upgradeToAndCall()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~2,200,000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~220,000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~90%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2" name="Text 2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6B6B"/>
                </a:solidFill>
              </a:rPr>
              <a:t>📸 СКРИНШОТ: forge script вывод деплоя ИЛИ Arbiscan страница одного из контрактов (verified badge)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Live Demo 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114800" cy="1097280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61288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612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120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0515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Connect Wallet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4173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MetaMask → Arbitrum Sepolia. RainbowKit detects wrong network and prompts switch.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14800" cy="1097280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161288"/>
            <a:ext cx="548640" cy="5486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1612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120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0" y="10515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Deposit to Vault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0" y="14173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Alice approves collateral → deposits 1M USDC → receives sfSHIELD vault shares (ERC4626).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194560"/>
            <a:ext cx="4114800" cy="1097280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395728"/>
            <a:ext cx="548640" cy="5486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95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120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22860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Purchase Policy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26517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Bob buys parametric policy: 50K coverage, 30 days, trigger at ETH &gt; $3000. PolicyNFT minted to Bob.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194560"/>
            <a:ext cx="4114800" cy="1097280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395728"/>
            <a:ext cx="548640" cy="5486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395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120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0" y="22860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Process Claim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26517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Keeper calls processClaim(). Chainlink returns ETH=$3200 &gt; trigger → Bob receives payout automatically.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429000"/>
            <a:ext cx="4114800" cy="1097280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630168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6301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120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43000" y="35204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DAO Governance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38862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Token holder proposes new premiumBps. Community votes → queue in Timelock → execute after 1-day delay.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3429000"/>
            <a:ext cx="4114800" cy="1097280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630168"/>
            <a:ext cx="548640" cy="5486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6301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120"/>
                </a:solidFill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86400" y="35204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Analytics Page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0" y="38862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Graph subgraph shows vault deposits, policy events. Data comes from The Graph, not from contract calls.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6B6B"/>
                </a:solidFill>
              </a:rPr>
              <a:t>📸 СКРИНШОТ: Apps/web — страница Claims или Governance в браузере с активной транзакцией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Likely Professor Questions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114800" cy="1143000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54864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0332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Q: How does double-claim prevention work?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" y="141732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A: consumeClaim() checks active &amp;&amp; !claimed, sets claimed=true and active=false BEFORE calling vault.payout() — strict CEI ordering.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114800" cy="1143000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960120"/>
            <a:ext cx="54864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3752" y="10332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Q: What prevents a flash-loan governance attack?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73752" y="141732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A: ERC20Votes uses block checkpoints — voting power is measured at proposalSnapshot block, not current. Flash loans can't manipulate past checkpoints.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221992"/>
            <a:ext cx="4114800" cy="1143000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21992"/>
            <a:ext cx="54864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2951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Q: How are treasury funds protected?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" y="267919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A: ProtocolTreasury only accepts msg.sender == timelock. Any withdrawal must pass Governor proposal → TimelockController queue → 1-day delay → execute.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2221992"/>
            <a:ext cx="4114800" cy="1143000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221992"/>
            <a:ext cx="54864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22951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Q: What happens if Chainlink is stale?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73752" y="267919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A: ClaimProcessor._readOracle() reverts StaleOracle if block.timestamp - updatedAt &gt; heartbeatSeconds OR updatedAt &gt; block.timestamp.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483864"/>
            <a:ext cx="4114800" cy="1143000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83864"/>
            <a:ext cx="54864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5570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Q: Why split PolicyManager and ClaimProcessor?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0352" y="394106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A: Separates oracle-parsing risk surface from policy state transitions. ClaimProcessor can be upgraded without touching policy accounting.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3483864"/>
            <a:ext cx="4114800" cy="1143000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483864"/>
            <a:ext cx="54864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35570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Q: How does the UUPS upgrade preserve storage?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73752" y="394106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A: V1 has __gap[50] reserved slots. V2 uses 1 slot for protocolFeeBps + __gapV2[49]. Total = 50 slots. No collision possible.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6B6B"/>
                </a:solidFill>
              </a:rPr>
              <a:t>📸 СКРИНШОТ: forge coverage --report summary — вывод с процентами по каждому контракту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ShieldFi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8BDF8"/>
                </a:solidFill>
              </a:rPr>
              <a:t>Production-grade decentralized insurance protocol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✅  9 smart contracts — UUPS + ERC4626 + ERC721 + AMM + DAO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✅  241 tests — unit, fuzz, invariant, fork — 0 failing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93522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✅  ≥90% line coverage — measured with forge coverage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32841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✅  Slither: 0 High, 0 Medium findings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72160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✅  Full CI pipeline — GitHub Actions green on every push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✅  React frontend + The Graph subgraph + Conventional Commits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9488"/>
                </a:solidFill>
              </a:rPr>
              <a:t>github.com/Tolik998/Blockchain_Final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ShieldFi — Decentralized Insurance Protocol</dc:title>
  <dc:subject>PptxGenJS Presentation</dc:subject>
  <dc:creator>ShieldFi Team</dc:creator>
  <cp:lastModifiedBy>ShieldFi Team</cp:lastModifiedBy>
  <cp:revision>1</cp:revision>
  <dcterms:created xsi:type="dcterms:W3CDTF">2026-05-18T11:31:22Z</dcterms:created>
  <dcterms:modified xsi:type="dcterms:W3CDTF">2026-05-18T11:31:22Z</dcterms:modified>
</cp:coreProperties>
</file>